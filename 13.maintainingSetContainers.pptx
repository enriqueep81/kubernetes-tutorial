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s-E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Click to edit Master title style</a:t>
            </a:r>
            <a:endParaRPr b="0" lang="es-ES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Master text styles</a:t>
            </a:r>
            <a:endParaRPr b="0" lang="es-E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ptos"/>
              </a:rPr>
              <a:t>Second level</a:t>
            </a:r>
            <a:endParaRPr b="0" lang="es-E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Third level</a:t>
            </a:r>
            <a:endParaRPr b="0" lang="es-E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level</a:t>
            </a: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Fifth level</a:t>
            </a:r>
            <a:endParaRPr b="0" lang="es-E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12DD61AE-BAB4-41E9-BFC2-B357CC61D5D8}" type="datetime">
              <a:rPr b="0" lang="es-ES" sz="1200" spc="-1" strike="noStrike">
                <a:solidFill>
                  <a:srgbClr val="787878"/>
                </a:solidFill>
                <a:latin typeface="Aptos"/>
              </a:rPr>
              <a:t>11/11/25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GB" sz="2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1B70EE2A-16F9-418B-BED1-50AA3675BE99}" type="slidenum">
              <a:rPr b="0" lang="es-ES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" descr=""/>
          <p:cNvPicPr/>
          <p:nvPr/>
        </p:nvPicPr>
        <p:blipFill>
          <a:blip r:embed="rId1"/>
          <a:stretch/>
        </p:blipFill>
        <p:spPr>
          <a:xfrm>
            <a:off x="72360" y="144000"/>
            <a:ext cx="6944400" cy="2400120"/>
          </a:xfrm>
          <a:prstGeom prst="rect">
            <a:avLst/>
          </a:prstGeom>
          <a:ln w="0">
            <a:noFill/>
          </a:ln>
        </p:spPr>
      </p:pic>
      <p:pic>
        <p:nvPicPr>
          <p:cNvPr id="42" name="Picture 4" descr=""/>
          <p:cNvPicPr/>
          <p:nvPr/>
        </p:nvPicPr>
        <p:blipFill>
          <a:blip r:embed="rId2"/>
          <a:stretch/>
        </p:blipFill>
        <p:spPr>
          <a:xfrm>
            <a:off x="1366200" y="2544480"/>
            <a:ext cx="7611120" cy="3524400"/>
          </a:xfrm>
          <a:prstGeom prst="rect">
            <a:avLst/>
          </a:prstGeom>
          <a:ln w="0">
            <a:noFill/>
          </a:ln>
        </p:spPr>
      </p:pic>
      <p:pic>
        <p:nvPicPr>
          <p:cNvPr id="43" name="Picture 6" descr=""/>
          <p:cNvPicPr/>
          <p:nvPr/>
        </p:nvPicPr>
        <p:blipFill>
          <a:blip r:embed="rId3"/>
          <a:stretch/>
        </p:blipFill>
        <p:spPr>
          <a:xfrm>
            <a:off x="1366200" y="4201920"/>
            <a:ext cx="2114640" cy="154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" descr=""/>
          <p:cNvPicPr/>
          <p:nvPr/>
        </p:nvPicPr>
        <p:blipFill>
          <a:blip r:embed="rId1"/>
          <a:stretch/>
        </p:blipFill>
        <p:spPr>
          <a:xfrm>
            <a:off x="261360" y="0"/>
            <a:ext cx="8868600" cy="1704960"/>
          </a:xfrm>
          <a:prstGeom prst="rect">
            <a:avLst/>
          </a:prstGeom>
          <a:ln w="0">
            <a:noFill/>
          </a:ln>
        </p:spPr>
      </p:pic>
      <p:pic>
        <p:nvPicPr>
          <p:cNvPr id="45" name="Picture 6" descr=""/>
          <p:cNvPicPr/>
          <p:nvPr/>
        </p:nvPicPr>
        <p:blipFill>
          <a:blip r:embed="rId2"/>
          <a:stretch/>
        </p:blipFill>
        <p:spPr>
          <a:xfrm>
            <a:off x="123480" y="2095200"/>
            <a:ext cx="4106520" cy="2666880"/>
          </a:xfrm>
          <a:prstGeom prst="rect">
            <a:avLst/>
          </a:prstGeom>
          <a:ln w="0">
            <a:noFill/>
          </a:ln>
        </p:spPr>
      </p:pic>
      <p:pic>
        <p:nvPicPr>
          <p:cNvPr id="46" name="Picture 8" descr=""/>
          <p:cNvPicPr/>
          <p:nvPr/>
        </p:nvPicPr>
        <p:blipFill>
          <a:blip r:embed="rId3"/>
          <a:stretch/>
        </p:blipFill>
        <p:spPr>
          <a:xfrm>
            <a:off x="5457600" y="2095200"/>
            <a:ext cx="4096440" cy="2666880"/>
          </a:xfrm>
          <a:prstGeom prst="rect">
            <a:avLst/>
          </a:prstGeom>
          <a:ln w="0">
            <a:noFill/>
          </a:ln>
        </p:spPr>
      </p:pic>
      <p:sp>
        <p:nvSpPr>
          <p:cNvPr id="47" name="Rectangle 9"/>
          <p:cNvSpPr/>
          <p:nvPr/>
        </p:nvSpPr>
        <p:spPr>
          <a:xfrm>
            <a:off x="6241680" y="3968640"/>
            <a:ext cx="3248280" cy="200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Straight Arrow Connector 11"/>
          <p:cNvSpPr/>
          <p:nvPr/>
        </p:nvSpPr>
        <p:spPr>
          <a:xfrm>
            <a:off x="4230000" y="3429000"/>
            <a:ext cx="1226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pic>
        <p:nvPicPr>
          <p:cNvPr id="49" name="Picture 16" descr=""/>
          <p:cNvPicPr/>
          <p:nvPr/>
        </p:nvPicPr>
        <p:blipFill>
          <a:blip r:embed="rId4"/>
          <a:stretch/>
        </p:blipFill>
        <p:spPr>
          <a:xfrm>
            <a:off x="1664280" y="4828680"/>
            <a:ext cx="6263280" cy="1213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" descr=""/>
          <p:cNvPicPr/>
          <p:nvPr/>
        </p:nvPicPr>
        <p:blipFill>
          <a:blip r:embed="rId1"/>
          <a:stretch/>
        </p:blipFill>
        <p:spPr>
          <a:xfrm>
            <a:off x="850680" y="369720"/>
            <a:ext cx="8954280" cy="266400"/>
          </a:xfrm>
          <a:prstGeom prst="rect">
            <a:avLst/>
          </a:prstGeom>
          <a:ln w="0">
            <a:noFill/>
          </a:ln>
        </p:spPr>
      </p:pic>
      <p:pic>
        <p:nvPicPr>
          <p:cNvPr id="51" name="Picture 6" descr=""/>
          <p:cNvPicPr/>
          <p:nvPr/>
        </p:nvPicPr>
        <p:blipFill>
          <a:blip r:embed="rId2"/>
          <a:stretch/>
        </p:blipFill>
        <p:spPr>
          <a:xfrm>
            <a:off x="2963160" y="864720"/>
            <a:ext cx="8935200" cy="384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3" descr=""/>
          <p:cNvPicPr/>
          <p:nvPr/>
        </p:nvPicPr>
        <p:blipFill>
          <a:blip r:embed="rId1"/>
          <a:stretch/>
        </p:blipFill>
        <p:spPr>
          <a:xfrm>
            <a:off x="180720" y="1199880"/>
            <a:ext cx="4096440" cy="2666880"/>
          </a:xfrm>
          <a:prstGeom prst="rect">
            <a:avLst/>
          </a:prstGeom>
          <a:ln w="0">
            <a:noFill/>
          </a:ln>
        </p:spPr>
      </p:pic>
      <p:sp>
        <p:nvSpPr>
          <p:cNvPr id="53" name="Straight Arrow Connector 5"/>
          <p:cNvSpPr/>
          <p:nvPr/>
        </p:nvSpPr>
        <p:spPr>
          <a:xfrm>
            <a:off x="4258800" y="2533680"/>
            <a:ext cx="1226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pic>
        <p:nvPicPr>
          <p:cNvPr id="54" name="Picture 7" descr=""/>
          <p:cNvPicPr/>
          <p:nvPr/>
        </p:nvPicPr>
        <p:blipFill>
          <a:blip r:embed="rId2"/>
          <a:stretch/>
        </p:blipFill>
        <p:spPr>
          <a:xfrm>
            <a:off x="5486040" y="1126080"/>
            <a:ext cx="4429800" cy="2814480"/>
          </a:xfrm>
          <a:prstGeom prst="rect">
            <a:avLst/>
          </a:prstGeom>
          <a:ln w="0">
            <a:noFill/>
          </a:ln>
        </p:spPr>
      </p:pic>
      <p:sp>
        <p:nvSpPr>
          <p:cNvPr id="55" name="Rectangle 8"/>
          <p:cNvSpPr/>
          <p:nvPr/>
        </p:nvSpPr>
        <p:spPr>
          <a:xfrm>
            <a:off x="6841440" y="3558960"/>
            <a:ext cx="2073600" cy="164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56" name="Picture 10" descr=""/>
          <p:cNvPicPr/>
          <p:nvPr/>
        </p:nvPicPr>
        <p:blipFill>
          <a:blip r:embed="rId3"/>
          <a:stretch/>
        </p:blipFill>
        <p:spPr>
          <a:xfrm>
            <a:off x="689760" y="4333680"/>
            <a:ext cx="10259640" cy="1647720"/>
          </a:xfrm>
          <a:prstGeom prst="rect">
            <a:avLst/>
          </a:prstGeom>
          <a:ln w="0">
            <a:noFill/>
          </a:ln>
        </p:spPr>
      </p:pic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4280" y="709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s-ES" sz="4400" spc="-1" strike="noStrike">
                <a:solidFill>
                  <a:srgbClr val="000000"/>
                </a:solidFill>
                <a:latin typeface="Aptos Display"/>
              </a:rPr>
              <a:t>Limitations of updates</a:t>
            </a:r>
            <a:endParaRPr b="0" lang="es-ES" sz="44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6" descr=""/>
          <p:cNvPicPr/>
          <p:nvPr/>
        </p:nvPicPr>
        <p:blipFill>
          <a:blip r:embed="rId1"/>
          <a:stretch/>
        </p:blipFill>
        <p:spPr>
          <a:xfrm>
            <a:off x="0" y="123480"/>
            <a:ext cx="4601880" cy="236196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8" descr=""/>
          <p:cNvPicPr/>
          <p:nvPr/>
        </p:nvPicPr>
        <p:blipFill>
          <a:blip r:embed="rId2"/>
          <a:stretch/>
        </p:blipFill>
        <p:spPr>
          <a:xfrm>
            <a:off x="1980720" y="2795400"/>
            <a:ext cx="6363360" cy="3438720"/>
          </a:xfrm>
          <a:prstGeom prst="rect">
            <a:avLst/>
          </a:prstGeom>
          <a:ln w="0">
            <a:noFill/>
          </a:ln>
        </p:spPr>
      </p:pic>
      <p:sp>
        <p:nvSpPr>
          <p:cNvPr id="60" name="Rectangle 9"/>
          <p:cNvSpPr/>
          <p:nvPr/>
        </p:nvSpPr>
        <p:spPr>
          <a:xfrm>
            <a:off x="1895400" y="5111640"/>
            <a:ext cx="6363360" cy="1222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4" descr=""/>
          <p:cNvPicPr/>
          <p:nvPr/>
        </p:nvPicPr>
        <p:blipFill>
          <a:blip r:embed="rId1"/>
          <a:stretch/>
        </p:blipFill>
        <p:spPr>
          <a:xfrm>
            <a:off x="171000" y="199800"/>
            <a:ext cx="4887360" cy="278100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8" descr=""/>
          <p:cNvPicPr/>
          <p:nvPr/>
        </p:nvPicPr>
        <p:blipFill>
          <a:blip r:embed="rId2"/>
          <a:stretch/>
        </p:blipFill>
        <p:spPr>
          <a:xfrm>
            <a:off x="1528200" y="3257280"/>
            <a:ext cx="6262920" cy="2491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0000" y="53640"/>
            <a:ext cx="359640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s-ES" sz="4400" spc="-1" strike="noStrike">
                <a:solidFill>
                  <a:srgbClr val="000000"/>
                </a:solidFill>
                <a:latin typeface="Aptos Display"/>
              </a:rPr>
              <a:t>Deployment</a:t>
            </a:r>
            <a:endParaRPr b="0" lang="es-ES" sz="44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64" name="Picture 4" descr=""/>
          <p:cNvPicPr/>
          <p:nvPr/>
        </p:nvPicPr>
        <p:blipFill>
          <a:blip r:embed="rId1"/>
          <a:stretch/>
        </p:blipFill>
        <p:spPr>
          <a:xfrm>
            <a:off x="585360" y="1576440"/>
            <a:ext cx="4410360" cy="3972240"/>
          </a:xfrm>
          <a:prstGeom prst="rect">
            <a:avLst/>
          </a:prstGeom>
          <a:ln w="0">
            <a:noFill/>
          </a:ln>
        </p:spPr>
      </p:pic>
      <p:sp>
        <p:nvSpPr>
          <p:cNvPr id="65" name="Rectangle 5"/>
          <p:cNvSpPr/>
          <p:nvPr/>
        </p:nvSpPr>
        <p:spPr>
          <a:xfrm>
            <a:off x="736200" y="3514680"/>
            <a:ext cx="3511800" cy="2033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6" name="TextBox 6"/>
          <p:cNvSpPr/>
          <p:nvPr/>
        </p:nvSpPr>
        <p:spPr>
          <a:xfrm>
            <a:off x="2484000" y="3762720"/>
            <a:ext cx="176400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1" lang="es-ES" sz="1200" spc="-1" strike="noStrike">
                <a:solidFill>
                  <a:srgbClr val="000000"/>
                </a:solidFill>
                <a:latin typeface="Aptos"/>
              </a:rPr>
              <a:t>Configuration for  every single pod created by this deployment</a:t>
            </a:r>
            <a:r>
              <a:rPr b="0" lang="es-ES" sz="1800" spc="-1" strike="noStrike">
                <a:solidFill>
                  <a:srgbClr val="000000"/>
                </a:solidFill>
                <a:latin typeface="Aptos"/>
              </a:rPr>
              <a:t>	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7" name="Straight Arrow Connector 8"/>
          <p:cNvSpPr/>
          <p:nvPr/>
        </p:nvSpPr>
        <p:spPr>
          <a:xfrm flipV="1">
            <a:off x="1929240" y="2696400"/>
            <a:ext cx="2121120" cy="63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8" name="TextBox 9"/>
          <p:cNvSpPr/>
          <p:nvPr/>
        </p:nvSpPr>
        <p:spPr>
          <a:xfrm>
            <a:off x="4114080" y="2421000"/>
            <a:ext cx="176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1" lang="es-ES" sz="1200" spc="-1" strike="noStrike">
                <a:solidFill>
                  <a:srgbClr val="000000"/>
                </a:solidFill>
                <a:latin typeface="Aptos"/>
              </a:rPr>
              <a:t>Number of identical pods</a:t>
            </a:r>
            <a:endParaRPr b="0" lang="en-GB" sz="1200" spc="-1" strike="noStrike">
              <a:latin typeface="Arial"/>
            </a:endParaRPr>
          </a:p>
        </p:txBody>
      </p:sp>
      <p:pic>
        <p:nvPicPr>
          <p:cNvPr id="69" name="Picture 12" descr=""/>
          <p:cNvPicPr/>
          <p:nvPr/>
        </p:nvPicPr>
        <p:blipFill>
          <a:blip r:embed="rId2"/>
          <a:stretch/>
        </p:blipFill>
        <p:spPr>
          <a:xfrm>
            <a:off x="7068240" y="3121560"/>
            <a:ext cx="3724560" cy="2552760"/>
          </a:xfrm>
          <a:prstGeom prst="rect">
            <a:avLst/>
          </a:prstGeom>
          <a:ln w="0">
            <a:noFill/>
          </a:ln>
        </p:spPr>
      </p:pic>
      <p:sp>
        <p:nvSpPr>
          <p:cNvPr id="70" name="Straight Arrow Connector 13"/>
          <p:cNvSpPr/>
          <p:nvPr/>
        </p:nvSpPr>
        <p:spPr>
          <a:xfrm>
            <a:off x="4468320" y="4506840"/>
            <a:ext cx="22752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1" name="TextBox 15"/>
          <p:cNvSpPr/>
          <p:nvPr/>
        </p:nvSpPr>
        <p:spPr>
          <a:xfrm>
            <a:off x="4979520" y="4586760"/>
            <a:ext cx="1764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1" lang="es-ES" sz="1200" spc="-1" strike="noStrike">
                <a:solidFill>
                  <a:srgbClr val="000000"/>
                </a:solidFill>
                <a:latin typeface="Aptos"/>
              </a:rPr>
              <a:t>Similar to the pod config that we had</a:t>
            </a:r>
            <a:endParaRPr b="0" lang="en-GB" sz="1200" spc="-1" strike="noStrike">
              <a:latin typeface="Arial"/>
            </a:endParaRPr>
          </a:p>
        </p:txBody>
      </p:sp>
      <p:pic>
        <p:nvPicPr>
          <p:cNvPr id="72" name="Picture 17" descr=""/>
          <p:cNvPicPr/>
          <p:nvPr/>
        </p:nvPicPr>
        <p:blipFill>
          <a:blip r:embed="rId3"/>
          <a:stretch/>
        </p:blipFill>
        <p:spPr>
          <a:xfrm>
            <a:off x="6743880" y="647280"/>
            <a:ext cx="5038920" cy="2031480"/>
          </a:xfrm>
          <a:prstGeom prst="rect">
            <a:avLst/>
          </a:prstGeom>
          <a:ln w="0">
            <a:noFill/>
          </a:ln>
        </p:spPr>
      </p:pic>
      <p:sp>
        <p:nvSpPr>
          <p:cNvPr id="73" name="Straight Arrow Connector 18"/>
          <p:cNvSpPr/>
          <p:nvPr/>
        </p:nvSpPr>
        <p:spPr>
          <a:xfrm flipV="1">
            <a:off x="2612160" y="2499120"/>
            <a:ext cx="4131360" cy="842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4" name="Straight Arrow Connector 20"/>
          <p:cNvSpPr/>
          <p:nvPr/>
        </p:nvSpPr>
        <p:spPr>
          <a:xfrm flipV="1">
            <a:off x="1978200" y="2569680"/>
            <a:ext cx="4559400" cy="15541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6" descr=""/>
          <p:cNvPicPr/>
          <p:nvPr/>
        </p:nvPicPr>
        <p:blipFill>
          <a:blip r:embed="rId1"/>
          <a:stretch/>
        </p:blipFill>
        <p:spPr>
          <a:xfrm>
            <a:off x="635040" y="109800"/>
            <a:ext cx="7530120" cy="167076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10" descr=""/>
          <p:cNvPicPr/>
          <p:nvPr/>
        </p:nvPicPr>
        <p:blipFill>
          <a:blip r:embed="rId2"/>
          <a:stretch/>
        </p:blipFill>
        <p:spPr>
          <a:xfrm>
            <a:off x="635040" y="2364120"/>
            <a:ext cx="7761960" cy="153792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12" descr=""/>
          <p:cNvPicPr/>
          <p:nvPr/>
        </p:nvPicPr>
        <p:blipFill>
          <a:blip r:embed="rId3"/>
          <a:stretch/>
        </p:blipFill>
        <p:spPr>
          <a:xfrm>
            <a:off x="635040" y="4334040"/>
            <a:ext cx="8636400" cy="756720"/>
          </a:xfrm>
          <a:prstGeom prst="rect">
            <a:avLst/>
          </a:prstGeom>
          <a:ln w="0">
            <a:noFill/>
          </a:ln>
        </p:spPr>
      </p:pic>
      <p:sp>
        <p:nvSpPr>
          <p:cNvPr id="78" name="Straight Arrow Connector 14"/>
          <p:cNvSpPr/>
          <p:nvPr/>
        </p:nvSpPr>
        <p:spPr>
          <a:xfrm>
            <a:off x="3493080" y="5102280"/>
            <a:ext cx="360" cy="767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9" name="TextBox 15"/>
          <p:cNvSpPr/>
          <p:nvPr/>
        </p:nvSpPr>
        <p:spPr>
          <a:xfrm>
            <a:off x="2968920" y="5881320"/>
            <a:ext cx="1415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Replica =1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4" descr=""/>
          <p:cNvPicPr/>
          <p:nvPr/>
        </p:nvPicPr>
        <p:blipFill>
          <a:blip r:embed="rId1"/>
          <a:stretch/>
        </p:blipFill>
        <p:spPr>
          <a:xfrm>
            <a:off x="269280" y="877680"/>
            <a:ext cx="6387120" cy="2224800"/>
          </a:xfrm>
          <a:prstGeom prst="rect">
            <a:avLst/>
          </a:prstGeom>
          <a:ln w="0">
            <a:noFill/>
          </a:ln>
        </p:spPr>
      </p:pic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80000" y="53640"/>
            <a:ext cx="9375120" cy="824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000"/>
          </a:bodyPr>
          <a:p>
            <a:pPr>
              <a:lnSpc>
                <a:spcPct val="90000"/>
              </a:lnSpc>
            </a:pPr>
            <a:r>
              <a:rPr b="0" lang="es-ES" sz="3600" spc="-1" strike="noStrike">
                <a:solidFill>
                  <a:srgbClr val="000000"/>
                </a:solidFill>
                <a:latin typeface="Aptos Display"/>
              </a:rPr>
              <a:t>Access the container. Why we use services?</a:t>
            </a:r>
            <a:endParaRPr b="0" lang="es-ES" sz="36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82" name="Picture 7" descr=""/>
          <p:cNvPicPr/>
          <p:nvPr/>
        </p:nvPicPr>
        <p:blipFill>
          <a:blip r:embed="rId2"/>
          <a:stretch/>
        </p:blipFill>
        <p:spPr>
          <a:xfrm>
            <a:off x="6982560" y="1026720"/>
            <a:ext cx="4037040" cy="35388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9" descr=""/>
          <p:cNvPicPr/>
          <p:nvPr/>
        </p:nvPicPr>
        <p:blipFill>
          <a:blip r:embed="rId3"/>
          <a:stretch/>
        </p:blipFill>
        <p:spPr>
          <a:xfrm>
            <a:off x="6746400" y="1744200"/>
            <a:ext cx="5253840" cy="1684440"/>
          </a:xfrm>
          <a:prstGeom prst="rect">
            <a:avLst/>
          </a:prstGeom>
          <a:ln w="0">
            <a:noFill/>
          </a:ln>
        </p:spPr>
      </p:pic>
      <p:pic>
        <p:nvPicPr>
          <p:cNvPr id="84" name="Picture 11" descr=""/>
          <p:cNvPicPr/>
          <p:nvPr/>
        </p:nvPicPr>
        <p:blipFill>
          <a:blip r:embed="rId4"/>
          <a:stretch/>
        </p:blipFill>
        <p:spPr>
          <a:xfrm>
            <a:off x="604080" y="3927600"/>
            <a:ext cx="9849960" cy="628200"/>
          </a:xfrm>
          <a:prstGeom prst="rect">
            <a:avLst/>
          </a:prstGeom>
          <a:ln w="0">
            <a:noFill/>
          </a:ln>
        </p:spPr>
      </p:pic>
      <p:sp>
        <p:nvSpPr>
          <p:cNvPr id="85" name="Rectangle 12"/>
          <p:cNvSpPr/>
          <p:nvPr/>
        </p:nvSpPr>
        <p:spPr>
          <a:xfrm>
            <a:off x="7918560" y="4133160"/>
            <a:ext cx="1215720" cy="422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TextBox 13"/>
          <p:cNvSpPr/>
          <p:nvPr/>
        </p:nvSpPr>
        <p:spPr>
          <a:xfrm>
            <a:off x="7791120" y="4727880"/>
            <a:ext cx="2431440" cy="13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1" lang="es-ES" sz="1200" spc="-1" strike="noStrike">
                <a:solidFill>
                  <a:srgbClr val="000000"/>
                </a:solidFill>
                <a:latin typeface="Aptos"/>
              </a:rPr>
              <a:t>Random IP address internal to our VM. Assigned to the pod. It can change when the pod is recreated</a:t>
            </a:r>
            <a:br/>
            <a:r>
              <a:rPr b="1" lang="es-ES" sz="1200" spc="-1" strike="noStrike">
                <a:solidFill>
                  <a:srgbClr val="ff0000"/>
                </a:solidFill>
                <a:latin typeface="Aptos"/>
              </a:rPr>
              <a:t>This is why we need Service Objects</a:t>
            </a:r>
            <a:endParaRPr b="0" lang="en-GB" sz="1200" spc="-1" strike="noStrike">
              <a:latin typeface="Arial"/>
            </a:endParaRPr>
          </a:p>
        </p:txBody>
      </p:sp>
      <p:sp>
        <p:nvSpPr>
          <p:cNvPr id="87" name="Straight Arrow Connector 15"/>
          <p:cNvSpPr/>
          <p:nvPr/>
        </p:nvSpPr>
        <p:spPr>
          <a:xfrm>
            <a:off x="5660280" y="2586600"/>
            <a:ext cx="2130840" cy="2740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pic>
        <p:nvPicPr>
          <p:cNvPr id="88" name="Picture 19" descr=""/>
          <p:cNvPicPr/>
          <p:nvPr/>
        </p:nvPicPr>
        <p:blipFill>
          <a:blip r:embed="rId5"/>
          <a:stretch/>
        </p:blipFill>
        <p:spPr>
          <a:xfrm>
            <a:off x="4649040" y="4954680"/>
            <a:ext cx="1535400" cy="1849680"/>
          </a:xfrm>
          <a:prstGeom prst="rect">
            <a:avLst/>
          </a:prstGeom>
          <a:ln w="0">
            <a:noFill/>
          </a:ln>
        </p:spPr>
      </p:pic>
      <p:sp>
        <p:nvSpPr>
          <p:cNvPr id="89" name="Rectangle 20"/>
          <p:cNvSpPr/>
          <p:nvPr/>
        </p:nvSpPr>
        <p:spPr>
          <a:xfrm>
            <a:off x="4742640" y="6455520"/>
            <a:ext cx="1090800" cy="348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Straight Arrow Connector 21"/>
          <p:cNvSpPr/>
          <p:nvPr/>
        </p:nvSpPr>
        <p:spPr>
          <a:xfrm>
            <a:off x="5833800" y="6630120"/>
            <a:ext cx="11484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156082"/>
            </a:solidFill>
            <a:tailEnd len="med"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" name="TextBox 24"/>
          <p:cNvSpPr/>
          <p:nvPr/>
        </p:nvSpPr>
        <p:spPr>
          <a:xfrm>
            <a:off x="6844320" y="6472800"/>
            <a:ext cx="3585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ptos"/>
              </a:rPr>
              <a:t>To route traffic to the pods with that selector</a:t>
            </a:r>
            <a:endParaRPr b="0" lang="en-GB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4" descr=""/>
          <p:cNvPicPr/>
          <p:nvPr/>
        </p:nvPicPr>
        <p:blipFill>
          <a:blip r:embed="rId1"/>
          <a:stretch/>
        </p:blipFill>
        <p:spPr>
          <a:xfrm>
            <a:off x="290520" y="203040"/>
            <a:ext cx="5950440" cy="3911400"/>
          </a:xfrm>
          <a:prstGeom prst="rect">
            <a:avLst/>
          </a:prstGeom>
          <a:ln w="0">
            <a:noFill/>
          </a:ln>
        </p:spPr>
      </p:pic>
      <p:pic>
        <p:nvPicPr>
          <p:cNvPr id="93" name="Picture 6" descr=""/>
          <p:cNvPicPr/>
          <p:nvPr/>
        </p:nvPicPr>
        <p:blipFill>
          <a:blip r:embed="rId2"/>
          <a:stretch/>
        </p:blipFill>
        <p:spPr>
          <a:xfrm>
            <a:off x="6859800" y="323280"/>
            <a:ext cx="2038320" cy="3791160"/>
          </a:xfrm>
          <a:prstGeom prst="rect">
            <a:avLst/>
          </a:prstGeom>
          <a:ln w="0">
            <a:noFill/>
          </a:ln>
        </p:spPr>
      </p:pic>
      <p:pic>
        <p:nvPicPr>
          <p:cNvPr id="94" name="Picture 8" descr=""/>
          <p:cNvPicPr/>
          <p:nvPr/>
        </p:nvPicPr>
        <p:blipFill>
          <a:blip r:embed="rId3"/>
          <a:stretch/>
        </p:blipFill>
        <p:spPr>
          <a:xfrm>
            <a:off x="420480" y="4661280"/>
            <a:ext cx="6121440" cy="1873080"/>
          </a:xfrm>
          <a:prstGeom prst="rect">
            <a:avLst/>
          </a:prstGeom>
          <a:ln w="0">
            <a:noFill/>
          </a:ln>
        </p:spPr>
      </p:pic>
      <p:pic>
        <p:nvPicPr>
          <p:cNvPr id="95" name="Picture 10" descr=""/>
          <p:cNvPicPr/>
          <p:nvPr/>
        </p:nvPicPr>
        <p:blipFill>
          <a:blip r:embed="rId4"/>
          <a:stretch/>
        </p:blipFill>
        <p:spPr>
          <a:xfrm>
            <a:off x="6859800" y="5140800"/>
            <a:ext cx="1885680" cy="91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72320" y="255240"/>
            <a:ext cx="7098480" cy="878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ptos Display"/>
              </a:rPr>
              <a:t>Scaling Deployments</a:t>
            </a:r>
            <a:endParaRPr b="0" lang="es-ES" sz="4400" spc="-1" strike="noStrike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900000" y="1080000"/>
            <a:ext cx="3193560" cy="3240000"/>
          </a:xfrm>
          <a:prstGeom prst="rect">
            <a:avLst/>
          </a:prstGeom>
          <a:ln w="0">
            <a:noFill/>
          </a:ln>
        </p:spPr>
      </p:pic>
      <p:sp>
        <p:nvSpPr>
          <p:cNvPr id="98" name=""/>
          <p:cNvSpPr/>
          <p:nvPr/>
        </p:nvSpPr>
        <p:spPr>
          <a:xfrm>
            <a:off x="3780000" y="2880000"/>
            <a:ext cx="184644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Rectangle 1"/>
          <p:cNvSpPr/>
          <p:nvPr/>
        </p:nvSpPr>
        <p:spPr>
          <a:xfrm>
            <a:off x="1620000" y="4140000"/>
            <a:ext cx="1440000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00" name="" descr=""/>
          <p:cNvPicPr/>
          <p:nvPr/>
        </p:nvPicPr>
        <p:blipFill>
          <a:blip r:embed="rId2"/>
          <a:stretch/>
        </p:blipFill>
        <p:spPr>
          <a:xfrm>
            <a:off x="5755320" y="1080000"/>
            <a:ext cx="3064680" cy="3240000"/>
          </a:xfrm>
          <a:prstGeom prst="rect">
            <a:avLst/>
          </a:prstGeom>
          <a:ln w="0">
            <a:noFill/>
          </a:ln>
        </p:spPr>
      </p:pic>
      <p:sp>
        <p:nvSpPr>
          <p:cNvPr id="101" name="Rectangle 2"/>
          <p:cNvSpPr/>
          <p:nvPr/>
        </p:nvSpPr>
        <p:spPr>
          <a:xfrm>
            <a:off x="6480000" y="4176000"/>
            <a:ext cx="1440000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2" name=""/>
          <p:cNvSpPr txBox="1"/>
          <p:nvPr/>
        </p:nvSpPr>
        <p:spPr>
          <a:xfrm>
            <a:off x="2858760" y="4873320"/>
            <a:ext cx="416124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latin typeface="Arial"/>
              </a:rPr>
              <a:t>kublectl apply -f client-deployment.yaml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5824800" y="1906200"/>
            <a:ext cx="1015200" cy="180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5692</TotalTime>
  <Application>LibreOffice/7.2.4.1$Windows_X86_64 LibreOffice_project/27d75539669ac387bb498e35313b970b7fe9c4f9</Application>
  <AppVersion>15.0000</AppVersion>
  <Words>78</Words>
  <Paragraphs>10</Paragraphs>
  <Company>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2025-10-31T17:30:19Z</dcterms:created>
  <dc:creator>Estevez Polvorinos, E. (Enrique)</dc:creator>
  <dc:description/>
  <dc:language>en-GB</dc:language>
  <cp:lastModifiedBy/>
  <dcterms:modified xsi:type="dcterms:W3CDTF">2025-11-11T16:39:02Z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